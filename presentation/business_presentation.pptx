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NOVA CONGLOMERATE</a:t>
            </a:r>
          </a:p>
          <a:p>
            <a:pPr>
              <a:spcAft>
                <a:spcPts val="3000"/>
              </a:spcAft>
              <a:defRPr sz="2000">
                <a:solidFill>
                  <a:srgbClr val="008080"/>
                </a:solidFill>
                <a:latin typeface="Arial"/>
              </a:defRPr>
            </a:pPr>
            <a:r>
              <a:t>Q2 Performance Portfolio &amp; Operational Optimization Roadmap</a:t>
            </a:r>
          </a:p>
          <a:p>
            <a:pPr>
              <a:defRPr sz="1200">
                <a:solidFill>
                  <a:srgbClr val="B4C3D2"/>
                </a:solidFill>
                <a:latin typeface="Arial"/>
              </a:defRPr>
            </a:pPr>
            <a:r>
              <a:t>Prepared for the Board of Directors | Data Science 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Arial"/>
              </a:defRPr>
            </a:pPr>
            <a:r>
              <a:t>EXECUTIVE SCOPE &amp; BUSINESS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2B2B2B"/>
                </a:solidFill>
                <a:latin typeface="Arial"/>
              </a:defRPr>
            </a:pPr>
            <a:r>
              <a:t>Evaluating operational data and strategic optimizations across three main business divisions:</a:t>
            </a:r>
          </a:p>
          <a:p>
            <a:pPr>
              <a:spcBef>
                <a:spcPts val="1000"/>
              </a:spcBef>
              <a:defRPr sz="1600" b="1">
                <a:solidFill>
                  <a:srgbClr val="1B365D"/>
                </a:solidFill>
                <a:latin typeface="Arial"/>
              </a:defRPr>
            </a:pPr>
            <a:r>
              <a:t>• NOVA RETAIL (sales_data.csv)</a:t>
            </a:r>
          </a:p>
          <a:p>
            <a:pPr>
              <a:spcAft>
                <a:spcPts val="10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t>  Product performance, regional sales strategy, and price elasticity modeling.</a:t>
            </a:r>
          </a:p>
          <a:p>
            <a:pPr>
              <a:spcBef>
                <a:spcPts val="1000"/>
              </a:spcBef>
              <a:defRPr sz="1600" b="1">
                <a:solidFill>
                  <a:srgbClr val="1B365D"/>
                </a:solidFill>
                <a:latin typeface="Arial"/>
              </a:defRPr>
            </a:pPr>
            <a:r>
              <a:t>• NOVA TELECOM (customer_churn.csv)</a:t>
            </a:r>
          </a:p>
          <a:p>
            <a:pPr>
              <a:spcAft>
                <a:spcPts val="10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t>  Analyzing customer churn drivers, contract structure stability, and K-Means segmentation.</a:t>
            </a:r>
          </a:p>
          <a:p>
            <a:pPr>
              <a:spcBef>
                <a:spcPts val="1000"/>
              </a:spcBef>
              <a:defRPr sz="1600" b="1">
                <a:solidFill>
                  <a:srgbClr val="1B365D"/>
                </a:solidFill>
                <a:latin typeface="Arial"/>
              </a:defRPr>
            </a:pPr>
            <a:r>
              <a:t>• NOVA PROPERTY (house_prices.csv)</a:t>
            </a:r>
          </a:p>
          <a:p>
            <a:pPr>
              <a:spcAft>
                <a:spcPts val="10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t>  Predictive property valuation using OLS regression to capture physical and geographical pricing premiums.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Arial"/>
              </a:defRPr>
            </a:pPr>
            <a:r>
              <a:t>NOVA RETAIL: PRODUCT PERFORMANCE &amp; ELASTICITY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t>Laptops lead revenue generation, contributing $3.89M (31.5% of total division sales).</a:t>
            </a:r>
          </a:p>
          <a:p>
            <a:pPr>
              <a:spcAft>
                <a:spcPts val="12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t>Top 3 products (Laptops, Tablets, Phones) generate 77.9% of division revenue, validating the Pareto 80/20 principle.</a:t>
            </a:r>
          </a:p>
          <a:p>
            <a:pPr>
              <a:spcAft>
                <a:spcPts val="12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t>Price Elasticity regression reveals price is not a significant predictor of volume sold (p = 0.937).</a:t>
            </a:r>
          </a:p>
          <a:p>
            <a:pPr>
              <a:spcAft>
                <a:spcPts val="12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t>Demand is highly inelastic; Nova Retail holds substantial brand power to implement margin-boosting price adjustments.</a:t>
            </a:r>
          </a:p>
          <a:p>
            <a:pPr>
              <a:spcAft>
                <a:spcPts val="12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t>North and South are high-volume sales leaders, significantly outperforming East and West.</a:t>
            </a:r>
          </a:p>
        </p:txBody>
      </p:sp>
      <p:pic>
        <p:nvPicPr>
          <p:cNvPr id="4" name="Picture 3" descr="sales_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Arial"/>
              </a:defRPr>
            </a:pPr>
            <a:r>
              <a:t>NOVA TELECOM: CHURN &amp; RETENTION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t>Baseline customer churn rate is 10.60% across 500 subscribers.</a:t>
            </a:r>
          </a:p>
          <a:p>
            <a:pPr>
              <a:spcAft>
                <a:spcPts val="12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t>Contract type is a critical churn indicator: Month-to-month contracts suffer a massive 20.59% churn rate.</a:t>
            </a:r>
          </a:p>
          <a:p>
            <a:pPr>
              <a:spcAft>
                <a:spcPts val="12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t>One-year (4.30%) and Two-year (6.94%) contracts show high retention stability.</a:t>
            </a:r>
          </a:p>
          <a:p>
            <a:pPr>
              <a:spcAft>
                <a:spcPts val="12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t>Chi-Square Test is highly significant (p &lt; 0.001), indicating churn is heavily dependent on contract duration.</a:t>
            </a:r>
          </a:p>
          <a:p>
            <a:pPr>
              <a:spcAft>
                <a:spcPts val="12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t>T-Test confirms churned customers had significantly higher monthly fees ($129.77 vs. $111.72 for active, p = 0.0101).</a:t>
            </a:r>
          </a:p>
        </p:txBody>
      </p:sp>
      <p:pic>
        <p:nvPicPr>
          <p:cNvPr id="4" name="Picture 3" descr="churn_con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Arial"/>
              </a:defRPr>
            </a:pPr>
            <a:r>
              <a:t>NOVA TELECOM: K-MEANS RISK PROFILING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B365D"/>
                </a:solidFill>
                <a:latin typeface="Arial"/>
              </a:defRPr>
            </a:pPr>
            <a:r>
              <a:t>K-Means clustering on scaled Tenure &amp; Monthly Charges yields 3 distinct consumer cohorts:</a:t>
            </a:r>
          </a:p>
          <a:p>
            <a:pPr>
              <a:spcAft>
                <a:spcPts val="12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t>Cluster 0 ('Stable Low-Cost'): Long tenure (50.6 Mo), low fees ($62.71), 0% churn. Highly loyal base.</a:t>
            </a:r>
          </a:p>
          <a:p>
            <a:pPr>
              <a:spcAft>
                <a:spcPts val="12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t>Cluster 2 ('Premium High-Value'): Long tenure (48.8 Mo), very high fees ($158.25), 0% churn. High-paying advocates.</a:t>
            </a:r>
          </a:p>
          <a:p>
            <a:pPr>
              <a:spcAft>
                <a:spcPts val="12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t>Cluster 1 ('High Risk / New'): Short tenure (14.2 Mo), high fees ($113.58), and a critical 28.65% churn rate.</a:t>
            </a:r>
          </a:p>
          <a:p>
            <a:pPr>
              <a:spcAft>
                <a:spcPts val="12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t>Strategic Target: Launch retention outreach program focusing exclusively on Cluster 1 to migrate to 1-year contract tiers.</a:t>
            </a:r>
          </a:p>
        </p:txBody>
      </p:sp>
      <p:pic>
        <p:nvPicPr>
          <p:cNvPr id="4" name="Picture 3" descr="churn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Arial"/>
              </a:defRPr>
            </a:pPr>
            <a:r>
              <a:t>NOVA PROPERTY: VALUATION REGRESSION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t>Multiple Linear Regression achieves an Adjusted R-squared of 95.4%, explaining almost all price variance.</a:t>
            </a:r>
          </a:p>
          <a:p>
            <a:pPr>
              <a:spcAft>
                <a:spcPts val="12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t>Physical Premiums: Each square foot adds $7,615.15, each bedroom adds $1.67M, and each bathroom adds $645.5K to valuations.</a:t>
            </a:r>
          </a:p>
          <a:p>
            <a:pPr>
              <a:spcAft>
                <a:spcPts val="12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t>Depreciation Loss: Assets depreciate by $83,790 annually as they age (highly significant, p &lt; 0.001).</a:t>
            </a:r>
          </a:p>
          <a:p>
            <a:pPr>
              <a:spcAft>
                <a:spcPts val="12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t>Geographic Discounts: Compared to City Center, Suburb properties face an $8.35M discount, and Rural properties face a massive $16.54M discount.</a:t>
            </a:r>
          </a:p>
        </p:txBody>
      </p:sp>
      <p:pic>
        <p:nvPicPr>
          <p:cNvPr id="4" name="Picture 3" descr="house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Arial"/>
              </a:defRPr>
            </a:pPr>
            <a:r>
              <a:t>NOVA CONGLOMERATE: Q2 BOARD EXECUTION ROADMAP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3200400"/>
                <a:gridCol w="3230575"/>
              </a:tblGrid>
              <a:tr h="11430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Nova Retail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Nova Telecom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Nova Property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8080"/>
                          </a:solidFill>
                        </a:defRPr>
                      </a:pPr>
                      <a:r>
                        <a:t>Short-Term</a:t>
                      </a:r>
                    </a:p>
                    <a:p>
                      <a:r>
                        <a:t>(0-3 Months)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</a:defRPr>
                      </a:pPr>
                      <a:r>
                        <a:t>Reallocate Laptop inventory to North and South regions to match high purchasing velocity.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</a:defRPr>
                      </a:pPr>
                      <a:r>
                        <a:t>Offer 10% loyalty discounts to Cluster 1 month-to-month subscribers to migrate them to 1-year contract tiers.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</a:defRPr>
                      </a:pPr>
                      <a:r>
                        <a:t>Divert asset acquisition funds away from Rural listings due to the severe -$16.5M location discount.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8080"/>
                          </a:solidFill>
                        </a:defRPr>
                      </a:pPr>
                      <a:r>
                        <a:t>Medium-Term</a:t>
                      </a:r>
                    </a:p>
                    <a:p>
                      <a:r>
                        <a:t>(3-6 Months)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</a:defRPr>
                      </a:pPr>
                      <a:r>
                        <a:t>Implement a 3% price adjustment on Monitors and Headphones (inelastic products) to expand margin.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</a:defRPr>
                      </a:pPr>
                      <a:r>
                        <a:t>Deploy automated billing notifications to prevent credit transfer failures.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</a:defRPr>
                      </a:pPr>
                      <a:r>
                        <a:t>Purchase depreciated Suburb housing and add bedrooms to capture the $1.67M bedroom premium.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8080"/>
                          </a:solidFill>
                        </a:defRPr>
                      </a:pPr>
                      <a:r>
                        <a:t>Long-Term</a:t>
                      </a:r>
                    </a:p>
                    <a:p>
                      <a:r>
                        <a:t>(6+ Months)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</a:defRPr>
                      </a:pPr>
                      <a:r>
                        <a:t>Integrate sales CRM tracking tools to capture corporate purchasing cycles.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</a:defRPr>
                      </a:pPr>
                      <a:r>
                        <a:t>Implement 12-month contract minimum default terms for premium service tiers.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</a:defRPr>
                      </a:pPr>
                      <a:r>
                        <a:t>Exclusively focus development pipeline on high-premium City Center apartments and villas.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340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  <a:p>
            <a:pPr algn="ctr">
              <a:spcBef>
                <a:spcPts val="1000"/>
              </a:spcBef>
              <a:defRPr sz="2000">
                <a:solidFill>
                  <a:srgbClr val="008080"/>
                </a:solidFill>
                <a:latin typeface="Arial"/>
              </a:defRPr>
            </a:pPr>
            <a:r>
              <a:t>Questions &amp; Board Discussions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